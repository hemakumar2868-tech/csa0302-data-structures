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 (Prefix Tree) —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where each path from the root spells out a prefix shared by the words stored below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297680" cy="4709160"/>
          </a:xfrm>
          <a:prstGeom prst="roundRect">
            <a:avLst>
              <a:gd name="adj" fmla="val 2553"/>
            </a:avLst>
          </a:prstGeom>
          <a:solidFill>
            <a:srgbClr val="1722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Anatomy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340864"/>
            <a:ext cx="146304" cy="146304"/>
          </a:xfrm>
          <a:prstGeom prst="ellipse">
            <a:avLst/>
          </a:prstGeom>
          <a:solidFill>
            <a:srgbClr val="5FD5C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1284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array of size 26 (or hash map) — one link per possible next character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92424"/>
            <a:ext cx="146304" cy="146304"/>
          </a:xfrm>
          <a:prstGeom prst="ellipse">
            <a:avLst/>
          </a:prstGeom>
          <a:solidFill>
            <a:srgbClr val="5FD5C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26440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isEndOfWord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 — true if a complete string ends at this node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443984"/>
            <a:ext cx="146304" cy="146304"/>
          </a:xfrm>
          <a:prstGeom prst="ellipse">
            <a:avLst/>
          </a:prstGeom>
          <a:solidFill>
            <a:srgbClr val="5FD5C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31596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(optional) count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words passing through / ending here — speeds up counting queries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5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trie?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cost depends only on key length L, never on how many keys N are stored — unlike a hash table or BST.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1417320"/>
            <a:ext cx="6675120" cy="4709160"/>
          </a:xfrm>
          <a:prstGeom prst="roundRect">
            <a:avLst>
              <a:gd name="adj" fmla="val 2330"/>
            </a:avLst>
          </a:prstGeom>
          <a:solidFill>
            <a:srgbClr val="17224A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161848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 for: CAT · CAR · CARD · DOG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2286000"/>
            <a:ext cx="1463040" cy="7315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3591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3017520"/>
            <a:ext cx="0" cy="7315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30906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6812280" y="3749040"/>
            <a:ext cx="731520" cy="7772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8450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43800" y="3749040"/>
            <a:ext cx="731520" cy="7772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38450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4526280"/>
            <a:ext cx="0" cy="7772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6222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286000"/>
            <a:ext cx="4114800" cy="7315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3591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95560" y="3017520"/>
            <a:ext cx="0" cy="7315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30906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195560" y="3749040"/>
            <a:ext cx="0" cy="7772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38450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43016" y="2048256"/>
            <a:ext cx="475488" cy="475488"/>
          </a:xfrm>
          <a:prstGeom prst="ellipse">
            <a:avLst/>
          </a:prstGeom>
          <a:solidFill>
            <a:srgbClr val="065A82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43016" y="2048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06056" y="2779776"/>
            <a:ext cx="475488" cy="475488"/>
          </a:xfrm>
          <a:prstGeom prst="ellipse">
            <a:avLst/>
          </a:prstGeom>
          <a:solidFill>
            <a:srgbClr val="065A82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06056" y="2779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06056" y="3511296"/>
            <a:ext cx="475488" cy="475488"/>
          </a:xfrm>
          <a:prstGeom prst="ellipse">
            <a:avLst/>
          </a:prstGeom>
          <a:solidFill>
            <a:srgbClr val="065A82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06056" y="3511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74536" y="4288536"/>
            <a:ext cx="475488" cy="475488"/>
          </a:xfrm>
          <a:prstGeom prst="ellipse">
            <a:avLst/>
          </a:prstGeom>
          <a:solidFill>
            <a:srgbClr val="5FD5C4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4536" y="4288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37576" y="4288536"/>
            <a:ext cx="475488" cy="475488"/>
          </a:xfrm>
          <a:prstGeom prst="ellipse">
            <a:avLst/>
          </a:prstGeom>
          <a:solidFill>
            <a:srgbClr val="5FD5C4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37576" y="4288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037576" y="5065776"/>
            <a:ext cx="475488" cy="475488"/>
          </a:xfrm>
          <a:prstGeom prst="ellipse">
            <a:avLst/>
          </a:prstGeom>
          <a:solidFill>
            <a:srgbClr val="5FD5C4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37576" y="5065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957816" y="2779776"/>
            <a:ext cx="475488" cy="475488"/>
          </a:xfrm>
          <a:prstGeom prst="ellipse">
            <a:avLst/>
          </a:prstGeom>
          <a:solidFill>
            <a:srgbClr val="065A82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57816" y="2779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957816" y="3511296"/>
            <a:ext cx="475488" cy="475488"/>
          </a:xfrm>
          <a:prstGeom prst="ellipse">
            <a:avLst/>
          </a:prstGeom>
          <a:solidFill>
            <a:srgbClr val="065A82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57816" y="3511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957816" y="4288536"/>
            <a:ext cx="475488" cy="475488"/>
          </a:xfrm>
          <a:prstGeom prst="ellipse">
            <a:avLst/>
          </a:prstGeom>
          <a:solidFill>
            <a:srgbClr val="5FD5C4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57816" y="4288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49240" y="56235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node = end of a word (isEndOfWord = true) 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node = intermediate character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Operation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trie one character at a time, creating nodes only where a path doesn't yet exist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root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moving pointer `cur = root`.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39572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character c in the word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`cur.children[c]` doesn't exist, create a new node there.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741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328416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`cur = cur.children[c]` and repeat for the next character.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3068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426110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end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last character, set `cur.isEndOfWord = true`.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23560" y="1508760"/>
            <a:ext cx="608076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16916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55321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insert(root, word):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 = root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word: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 not in cur.children: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cur.children[c] = new TrieNode()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 = cur.children[c]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cur.isEndOfWord = true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534924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3492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O(L)</a:t>
            </a:r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time and O(L) new nodes worst case,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 = length of the inserted word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Operation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Exact-word search and prefix search follow the same walk — they differ only in the final check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49240" cy="29718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Word Search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09397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child links character by character.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87121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character is missing, the word is absent — stop.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64845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last character, return `cur.isEndOfWord`.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5349240" cy="29718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Search (startsWith)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5080" y="21488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09397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child links character by character, exactly as above.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87121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character is missing, no word has this prefix — stop.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37033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703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364845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last character, return true regardless of `isEndOfWord`.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11274552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764024"/>
            <a:ext cx="107259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searchPrefix(root, key):            // shared walk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 = root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key: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 not in cur.children: return null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 = cur.children[c]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cur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search():     return cur != null and cur.isEndOfWord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startsWith():  return cur != null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Operation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delete: unmark the word, then prune nodes that no longer lead to any word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73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has children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048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is a prefix of another word. Just clear `isEndOfWord`; keep the node and its children intact.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5087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1673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17136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is a leaf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7136" y="24048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word depends on this node. Delete it and recursively remove parent nodes left childless with `isEndOfWord = false`.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9872" y="15087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6733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48472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is shared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24048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lies on the path to another word. Stop pruning here — deleting further would break that other word.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1274552" cy="2331720"/>
          </a:xfrm>
          <a:prstGeom prst="roundRect">
            <a:avLst>
              <a:gd name="adj" fmla="val 3922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75304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(recursive)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107259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deleteWord(node, word, depth = 0):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depth == length(word):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node.isEndOfWord = false                     // unmark the word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node.children.isEmpty()                // safe to delete this node?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word[depth]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 not in node.children: return false           // word not present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shouldDeleteChild = deleteWord(node.children[c], word, depth + 1)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shouldDeleteChild: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remove node.children[c]                        // Case 2: prune the leaf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node.children.isEmpty() and not node.isEndOfWord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O(L)</a:t>
            </a:r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 — one downward pass plus one unwind, where L = length of the deleted word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key length · N = number of stored keys · M = alphabet size · P = prefix length · K = matches returned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2743200"/>
        </p:xfrm>
        <a:graphic>
          <a:graphicData uri="http://schemas.openxmlformats.org/drawingml/2006/table">
            <a:tbl>
              <a:tblPr/>
              <a:tblGrid>
                <a:gridCol w="3383280"/>
                <a:gridCol w="2377440"/>
                <a:gridCol w="2834640"/>
                <a:gridCol w="26791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BST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D5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O(L) avg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O(L·log 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(exact)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D5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O(L) avg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O(L·log 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D5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O(L) avg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O(L·log 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search (all words with prefix)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D5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O(P + K)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O(N·L)  — full scan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O(K·log N + 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(worst case)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D5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O(N·L·M)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4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11274552" cy="1600200"/>
          </a:xfrm>
          <a:prstGeom prst="roundRect">
            <a:avLst>
              <a:gd name="adj" fmla="val 6857"/>
            </a:avLst>
          </a:prstGeom>
          <a:solidFill>
            <a:srgbClr val="17224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892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trie wins for prefix queries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5230368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trie answers “show all words starting with P” in O(P + K) — the time to walk the prefix, plus the size of the answer. A hash table stores no ordering between keys, so it must scan all N entries; a BST narrows the range but still pays O(log N) plus a walk over L-length string comparisons. This is why tries power autocomplete, spell-checkers, and IP routing tables.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2026-08-13T06:08:15Z</dcterms:created>
  <dcterms:modified xsi:type="dcterms:W3CDTF">2026-08-13T06:08:15Z</dcterms:modified>
</cp:coreProperties>
</file>